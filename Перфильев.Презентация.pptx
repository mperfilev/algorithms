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91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746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118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807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602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5229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197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2143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629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4054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8001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62101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0089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0700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4314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2170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21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4C71EC6-210F-42DE-9C53-41977AD35B3D}" type="datetimeFigureOut">
              <a:rPr lang="ru-RU" smtClean="0"/>
              <a:t>26.10.2026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71596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A9FE40-6929-4B3B-B7A7-4D36B25136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4800" dirty="0">
                <a:solidFill>
                  <a:srgbClr val="CC9900"/>
                </a:solidFill>
              </a:rPr>
              <a:t>Теория вычислительной сложности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9FD312-EC1A-47C8-8E6F-8DA5545B7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ru-RU"/>
              <a:t>Теоремы об иерархиях по времени и памяти</a:t>
            </a:r>
          </a:p>
          <a:p>
            <a:pPr algn="l"/>
            <a:r>
              <a:rPr lang="ru-RU"/>
              <a:t>Теорема Сэвича</a:t>
            </a:r>
          </a:p>
          <a:p>
            <a:pPr algn="l"/>
            <a:r>
              <a:rPr lang="en-US"/>
              <a:t>TQBF</a:t>
            </a:r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C414C-B2AF-4F76-A6AD-631278EF92CE}"/>
              </a:ext>
            </a:extLst>
          </p:cNvPr>
          <p:cNvSpPr txBox="1"/>
          <p:nvPr/>
        </p:nvSpPr>
        <p:spPr>
          <a:xfrm>
            <a:off x="6163830" y="5661248"/>
            <a:ext cx="194421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7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Перфильев М. В.</a:t>
            </a:r>
          </a:p>
        </p:txBody>
      </p:sp>
    </p:spTree>
    <p:extLst>
      <p:ext uri="{BB962C8B-B14F-4D97-AF65-F5344CB8AC3E}">
        <p14:creationId xmlns:p14="http://schemas.microsoft.com/office/powerpoint/2010/main" val="1388857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Что за теория?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Теория вычислительной сложности изучает ресурсы, необходимые для решения вычислительных задач.</a:t>
            </a:r>
          </a:p>
          <a:p>
            <a:r>
              <a:rPr lang="ru-RU"/>
              <a:t>Основа – задача принятия решения (</a:t>
            </a:r>
            <a:r>
              <a:rPr lang="en-US"/>
              <a:t>decision problem)</a:t>
            </a:r>
            <a:r>
              <a:rPr lang="ru-RU" dirty="0"/>
              <a:t>: </a:t>
            </a:r>
            <a:r>
              <a:rPr lang="ru-RU"/>
              <a:t>разделяет все входы на «Да»</a:t>
            </a:r>
            <a:r>
              <a:rPr lang="en-US"/>
              <a:t> </a:t>
            </a:r>
            <a:r>
              <a:rPr lang="ru-RU"/>
              <a:t>и «Нет»</a:t>
            </a:r>
            <a:r>
              <a:rPr lang="en-US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590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Вычислительная модель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/>
              <a:t>Машина Тьюринга задает формальную модель алгоритма. </a:t>
            </a:r>
          </a:p>
          <a:p>
            <a:pPr marL="36900" indent="0">
              <a:buNone/>
            </a:pPr>
            <a:r>
              <a:rPr lang="ru-RU"/>
              <a:t>Сложность МТ описывается временем (число шагов МТ) и памятью (число ячеек на рабочей ленте)</a:t>
            </a:r>
          </a:p>
          <a:p>
            <a:r>
              <a:rPr lang="ru-RU"/>
              <a:t>Детерминированная МТ – шаги однозначны.</a:t>
            </a:r>
          </a:p>
          <a:p>
            <a:r>
              <a:rPr lang="ru-RU"/>
              <a:t>Недетерминированная МТ – допускает «ветвления».</a:t>
            </a:r>
          </a:p>
          <a:p>
            <a:pPr marL="36900" indent="0">
              <a:buNone/>
            </a:pPr>
            <a:endParaRPr lang="ru-RU"/>
          </a:p>
          <a:p>
            <a:r>
              <a:rPr lang="ru-RU"/>
              <a:t>Тезис Чёрча-Тьюринга:</a:t>
            </a:r>
          </a:p>
          <a:p>
            <a:pPr marL="36900" indent="0">
              <a:buNone/>
            </a:pPr>
            <a:r>
              <a:rPr lang="ru-RU"/>
              <a:t>Для люборй алгоритмически вычислимой функции существует вичисляющая её значения машина Тьюринга</a:t>
            </a:r>
          </a:p>
        </p:txBody>
      </p:sp>
    </p:spTree>
    <p:extLst>
      <p:ext uri="{BB962C8B-B14F-4D97-AF65-F5344CB8AC3E}">
        <p14:creationId xmlns:p14="http://schemas.microsoft.com/office/powerpoint/2010/main" val="1241274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Классы сложности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DTIME(f(n)) и NTIME(f(n))</a:t>
            </a:r>
          </a:p>
          <a:p>
            <a:pPr marL="36900" indent="0">
              <a:buNone/>
            </a:pPr>
            <a:r>
              <a:rPr lang="ru-RU"/>
              <a:t>Детерминированное и недетерминированное время O(f(n)).</a:t>
            </a:r>
          </a:p>
          <a:p>
            <a:r>
              <a:rPr lang="ru-RU"/>
              <a:t>DSPACE(f(n)) и NSPACE(f(n))</a:t>
            </a:r>
          </a:p>
          <a:p>
            <a:pPr marL="36900" indent="0">
              <a:buNone/>
            </a:pPr>
            <a:r>
              <a:rPr lang="ru-RU"/>
              <a:t>Детерминированная и недетерминированная память O(f(n)).</a:t>
            </a:r>
          </a:p>
          <a:p>
            <a:r>
              <a:rPr lang="ru-RU"/>
              <a:t>P: задачи, разрешимые за полиномиальное время.</a:t>
            </a:r>
          </a:p>
          <a:p>
            <a:r>
              <a:rPr lang="ru-RU"/>
              <a:t>NP: задачи, проверямые за полиномиальное время</a:t>
            </a:r>
          </a:p>
          <a:p>
            <a:r>
              <a:rPr lang="ru-RU"/>
              <a:t>PSPACE: задачи, разрешимые на детерминированной МТ с полиномиальной памятью.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118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 sz="3600">
                <a:solidFill>
                  <a:srgbClr val="CC9900"/>
                </a:solidFill>
              </a:rPr>
              <a:t>Теорема об иерархии по времени</a:t>
            </a:r>
            <a:endParaRPr lang="ru-RU" sz="3600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/>
              <a:t>Для любых функций f(n) и g(n), где g(n) - «конструируемая по времени» (time-constructible) и f(n)log(f(n))= o(g(n)), выполняется строгое включение</a:t>
            </a:r>
          </a:p>
          <a:p>
            <a:r>
              <a:rPr lang="pt-BR" sz="2800"/>
              <a:t>DTIME(f(n)) ⊊ DTIME(g(n))</a:t>
            </a:r>
          </a:p>
        </p:txBody>
      </p:sp>
    </p:spTree>
    <p:extLst>
      <p:ext uri="{BB962C8B-B14F-4D97-AF65-F5344CB8AC3E}">
        <p14:creationId xmlns:p14="http://schemas.microsoft.com/office/powerpoint/2010/main" val="226584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>
                <a:solidFill>
                  <a:srgbClr val="CC9900"/>
                </a:solidFill>
              </a:rPr>
              <a:t>Теорема об иерархии по памяти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/>
              <a:t>Для любых функций f(n) и g(n), где g(n) - «конструируемая по памяти» (space-constructible) и f(n)=o(g(n)), выполняется строгое включение</a:t>
            </a:r>
          </a:p>
          <a:p>
            <a:r>
              <a:rPr lang="pt-BR" sz="2800"/>
              <a:t>DSPACE(f(n)) ⊊ DSPACE(g(n))</a:t>
            </a:r>
          </a:p>
        </p:txBody>
      </p:sp>
    </p:spTree>
    <p:extLst>
      <p:ext uri="{BB962C8B-B14F-4D97-AF65-F5344CB8AC3E}">
        <p14:creationId xmlns:p14="http://schemas.microsoft.com/office/powerpoint/2010/main" val="1332064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ru-RU">
                <a:solidFill>
                  <a:srgbClr val="CC9900"/>
                </a:solidFill>
              </a:rPr>
              <a:t>Основная идея доказательства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/>
              <a:t>1. Перечисляем машины М₀, М₁, М₂, … с ограниченным ресурсом.</a:t>
            </a:r>
          </a:p>
          <a:p>
            <a:pPr marL="36900" indent="0">
              <a:buNone/>
            </a:pPr>
            <a:r>
              <a:rPr lang="ru-RU"/>
              <a:t>2. Машина D читает код машины Mᵢ и моделирует её на том же входе в пределах установленного лимита.</a:t>
            </a:r>
          </a:p>
          <a:p>
            <a:pPr marL="36900" indent="0">
              <a:buNone/>
            </a:pPr>
            <a:r>
              <a:rPr lang="ru-RU"/>
              <a:t>3. Если моделирование завершается, D меняет ответ на противоположный. По исчерпании лимита D останавливается.</a:t>
            </a:r>
          </a:p>
          <a:p>
            <a:pPr marL="36900" indent="0">
              <a:buNone/>
            </a:pPr>
            <a:r>
              <a:rPr lang="ru-RU"/>
              <a:t>4. На подходящей кодировке каждой Mᵢ ответы различаются. Значит, язык D не входит в меньший класс.</a:t>
            </a:r>
          </a:p>
        </p:txBody>
      </p:sp>
    </p:spTree>
    <p:extLst>
      <p:ext uri="{BB962C8B-B14F-4D97-AF65-F5344CB8AC3E}">
        <p14:creationId xmlns:p14="http://schemas.microsoft.com/office/powerpoint/2010/main" val="1353891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Теорема Сэвича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/>
              <a:t>Пусть S(n) ≥ log n и S(n) конструируема по памяти.</a:t>
            </a:r>
          </a:p>
          <a:p>
            <a:r>
              <a:rPr lang="pt-BR" sz="2800"/>
              <a:t>NSPACE(S(n)) ⊆ DSPACE(S(n)²)</a:t>
            </a:r>
          </a:p>
          <a:p>
            <a:endParaRPr lang="ru-RU"/>
          </a:p>
          <a:p>
            <a:endParaRPr lang="ru-RU"/>
          </a:p>
          <a:p>
            <a:endParaRPr lang="ru-RU"/>
          </a:p>
          <a:p>
            <a:endParaRPr lang="ru-RU"/>
          </a:p>
          <a:p>
            <a:pPr marL="36900" indent="0">
              <a:buNone/>
            </a:pPr>
            <a:r>
              <a:rPr lang="ru-RU"/>
              <a:t>Любую задачу, решаемую недетерминированной МТ с памятью O(S(n)), можно решить детерминированно с памятью O(S(n)²).</a:t>
            </a:r>
          </a:p>
          <a:p>
            <a:pPr marL="3690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3597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Док-во. Граф конфигураций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Конфигурация содержит состояние МТ, содержимое рабочих лент и положения головок. Её код занимает O(S(n)) бит.</a:t>
            </a:r>
          </a:p>
          <a:p>
            <a:pPr marL="36900" indent="0">
              <a:buNone/>
            </a:pPr>
            <a:r>
              <a:rPr lang="ru-RU"/>
              <a:t>Вершины графа: конфигурации. </a:t>
            </a:r>
          </a:p>
          <a:p>
            <a:pPr marL="36900" indent="0">
              <a:buNone/>
            </a:pPr>
            <a:r>
              <a:rPr lang="ru-RU"/>
              <a:t>Рёбра: допустимые переходы за один шаг. Граф не нужно хранить целиком.</a:t>
            </a:r>
          </a:p>
          <a:p>
            <a:pPr marL="36900" indent="0">
              <a:buNone/>
            </a:pPr>
            <a:r>
              <a:rPr lang="ru-RU"/>
              <a:t>Конфигурации </a:t>
            </a:r>
            <a:r>
              <a:rPr lang="en-US"/>
              <a:t>Cstart </a:t>
            </a:r>
            <a:r>
              <a:rPr lang="ru-RU"/>
              <a:t>и </a:t>
            </a:r>
            <a:r>
              <a:rPr lang="en-US"/>
              <a:t>Caccept</a:t>
            </a:r>
            <a:r>
              <a:rPr lang="ru-RU"/>
              <a:t> (начальная и конечная).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100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Рекурсивная проверка пути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REACH(a, b, i): путь длины ≤ 2ⁱ</a:t>
            </a:r>
          </a:p>
          <a:p>
            <a:r>
              <a:rPr lang="ru-RU"/>
              <a:t>База i = 0: проверяем a = b или наличие ребра a → b.</a:t>
            </a:r>
          </a:p>
          <a:p>
            <a:r>
              <a:rPr lang="ru-RU"/>
              <a:t>Шаг i &gt; 0: перебираем промежуточные конфигурации m.</a:t>
            </a:r>
          </a:p>
          <a:p>
            <a:r>
              <a:rPr lang="ru-RU"/>
              <a:t>Проверяем REACH(</a:t>
            </a:r>
            <a:r>
              <a:rPr lang="en-US"/>
              <a:t>Cstart</a:t>
            </a:r>
            <a:r>
              <a:rPr lang="ru-RU"/>
              <a:t>, </a:t>
            </a:r>
            <a:r>
              <a:rPr lang="en-US"/>
              <a:t>C</a:t>
            </a:r>
            <a:r>
              <a:rPr lang="ru-RU"/>
              <a:t>m</a:t>
            </a:r>
            <a:r>
              <a:rPr lang="en-US"/>
              <a:t>id</a:t>
            </a:r>
            <a:r>
              <a:rPr lang="ru-RU"/>
              <a:t>, i − 1) и REACH(</a:t>
            </a:r>
            <a:r>
              <a:rPr lang="en-US"/>
              <a:t>C</a:t>
            </a:r>
            <a:r>
              <a:rPr lang="ru-RU"/>
              <a:t>m</a:t>
            </a:r>
            <a:r>
              <a:rPr lang="en-US"/>
              <a:t>id</a:t>
            </a:r>
            <a:r>
              <a:rPr lang="ru-RU"/>
              <a:t>, </a:t>
            </a:r>
            <a:r>
              <a:rPr lang="en-US"/>
              <a:t>Caccept</a:t>
            </a:r>
            <a:r>
              <a:rPr lang="ru-RU"/>
              <a:t>, i − 1).</a:t>
            </a:r>
          </a:p>
          <a:p>
            <a:r>
              <a:rPr lang="ru-RU"/>
              <a:t>Если обе проверки успешны для некоторой m, возвращаем «да». Иначе возвращаем «нет».</a:t>
            </a:r>
          </a:p>
          <a:p>
            <a:r>
              <a:rPr lang="ru-RU"/>
              <a:t>Вызовы выполняются последовательно. Освободившуюся память используем снова.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52319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Основное следствие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PSPACE = NPSPACE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36900" indent="0">
              <a:buNone/>
            </a:pPr>
            <a:r>
              <a:rPr lang="ru-RU"/>
              <a:t>Класс задач, решаемых недетерминированной машиной с полиномиальной памятью (NPSPACE), совпадает с классом задач, решаемых детерминированной машиной с полиномиальной памятью (PSPACE).</a:t>
            </a:r>
            <a:endParaRPr lang="en-US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2291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>
                <a:solidFill>
                  <a:srgbClr val="CC9900"/>
                </a:solidFill>
              </a:rPr>
              <a:t>TQBF</a:t>
            </a:r>
            <a:br>
              <a:rPr lang="en-US">
                <a:solidFill>
                  <a:srgbClr val="CC9900"/>
                </a:solidFill>
              </a:rPr>
            </a:br>
            <a:r>
              <a:rPr lang="en-US" sz="2700">
                <a:solidFill>
                  <a:srgbClr val="CC9900"/>
                </a:solidFill>
              </a:rPr>
              <a:t>True Quantified Boolean Formula</a:t>
            </a:r>
            <a:endParaRPr lang="ru-RU" sz="2700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/>
              <a:t>Φ = </a:t>
            </a:r>
            <a:r>
              <a:rPr lang="en-US"/>
              <a:t>Q₁x₁ Q₂x₂ … Qₙxₙ </a:t>
            </a:r>
            <a:r>
              <a:rPr lang="el-GR"/>
              <a:t>ψ(</a:t>
            </a:r>
            <a:r>
              <a:rPr lang="en-US"/>
              <a:t>x₁, …, xₙ)</a:t>
            </a:r>
          </a:p>
          <a:p>
            <a:r>
              <a:rPr lang="ru-RU"/>
              <a:t>TQBF: истинные замкнутые булевы формулы. Qᵢ ∈ {∃, ∀}, xᵢ ∈ {0, 1}, а ψ не содержит кванторов.</a:t>
            </a:r>
          </a:p>
          <a:p>
            <a:r>
              <a:rPr lang="ru-RU"/>
              <a:t>∃ требует хотя бы одного успешного выбора.</a:t>
            </a:r>
          </a:p>
          <a:p>
            <a:r>
              <a:rPr lang="ru-RU"/>
              <a:t>∀ требует успеха при обоих значениях переменной.</a:t>
            </a:r>
          </a:p>
          <a:p>
            <a:pPr marL="36900" indent="0">
              <a:buNone/>
            </a:pPr>
            <a:r>
              <a:rPr lang="ru-RU"/>
              <a:t>TQBF PSPACE-полна. Перебор с повторным использованием памяти даёт TQBF ∈ PSPACE.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5514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3BA991-A6B1-4882-ABC7-0515D91B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Шахматы</a:t>
            </a:r>
            <a:endParaRPr lang="ru-RU" dirty="0">
              <a:solidFill>
                <a:srgbClr val="CC99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382E7D-A2ED-4B67-9F3B-049024306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sz="2400"/>
              <a:t>∃ ход белых  ∀ ответ чёрных  ∃ ход белых …</a:t>
            </a:r>
          </a:p>
          <a:p>
            <a:r>
              <a:rPr lang="ru-RU"/>
              <a:t>Вопрос: могут ли белые гарантировать мат за ограниченное число ходов?</a:t>
            </a:r>
          </a:p>
          <a:p>
            <a:r>
              <a:rPr lang="ru-RU"/>
              <a:t>Белые выбирают продолжение с учётом уже сделанного ответа чёрных. Формула учитывает только допустимые ходы.</a:t>
            </a:r>
          </a:p>
          <a:p>
            <a:r>
              <a:rPr lang="ru-RU"/>
              <a:t>Это модель поиска выигрышной стратегии в игре с полной информацией.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2949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4EDC2-86EF-4D64-AD29-86D0B8AAB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Тактические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A56313-BC0A-4ACB-9B98-4C9DCFCAC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sz="2400"/>
              <a:t>∃ укрытие  ∀ действие противника  ∃ реакция</a:t>
            </a:r>
          </a:p>
          <a:p>
            <a:r>
              <a:rPr lang="ru-RU"/>
              <a:t>Ситуация: агент выбирает укрытие А или Б. Противник может атаковать, бросить гранату или обойти его.</a:t>
            </a:r>
          </a:p>
          <a:p>
            <a:r>
              <a:rPr lang="ru-RU"/>
              <a:t>После действия противника агент выбирает ответ: сменить укрытие или отступить.</a:t>
            </a:r>
          </a:p>
          <a:p>
            <a:pPr marL="36900" indent="0">
              <a:buNone/>
            </a:pPr>
            <a:r>
              <a:rPr lang="ru-RU"/>
              <a:t>Деревья поведения (</a:t>
            </a:r>
            <a:r>
              <a:rPr lang="en-US"/>
              <a:t>Behavior Trees) </a:t>
            </a:r>
            <a:r>
              <a:rPr lang="ru-RU"/>
              <a:t>и GOAP</a:t>
            </a:r>
            <a:r>
              <a:rPr lang="en-US"/>
              <a:t> (Goal-Oriented Action Planning)</a:t>
            </a:r>
            <a:r>
              <a:rPr lang="ru-RU"/>
              <a:t> помогают описывать поведение агента. Их использование само по себе не означает решение TQBF.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6478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ACDC18-B205-4E38-8925-A6A5D83DE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Тестировка уровней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B7EC8E-B362-4DAE-BBF9-5CA4BC444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ru-RU" sz="2400"/>
              <a:t>∃ действие  ∀ ответ врага  ∃ следующее действие …</a:t>
            </a:r>
          </a:p>
          <a:p>
            <a:r>
              <a:rPr lang="ru-RU"/>
              <a:t>Уровень описывается состояниями: положение героя, двери, ключи и допустимые действия врагов.</a:t>
            </a:r>
          </a:p>
          <a:p>
            <a:r>
              <a:rPr lang="ru-RU"/>
              <a:t>Проверяем, может ли игрок гарантированно достичь выхода за заданное число шагов.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868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5B56D9-B129-4CA8-AB2D-DD572824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4400">
                <a:solidFill>
                  <a:srgbClr val="CC9900"/>
                </a:solidFill>
              </a:rPr>
              <a:t>General Game Plaing</a:t>
            </a:r>
            <a:br>
              <a:rPr lang="en-US"/>
            </a:br>
            <a:r>
              <a:rPr lang="ru-RU" sz="2700">
                <a:solidFill>
                  <a:srgbClr val="CC9900"/>
                </a:solidFill>
              </a:rPr>
              <a:t>Правила игры и поиск выигрышной стратегии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F0D32E-B6CD-4778-A71B-A980ECD98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Агент получает формальное описание правил и выбирает действия в новой игре.</a:t>
            </a:r>
          </a:p>
          <a:p>
            <a:r>
              <a:rPr lang="ru-RU"/>
              <a:t>Для конечной игры с полной информацией и заданным горизонтом можно выразить стратегию чередованием ∃ и ∀.</a:t>
            </a:r>
          </a:p>
          <a:p>
            <a:r>
              <a:rPr lang="ru-RU"/>
              <a:t>Терминальное условие ψ определяет победу после последовательности допустимых ходов.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798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5214D5-D298-4FAC-A0E2-5DC0617BF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Вопросы для аудитории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716307-1E70-4101-ABB4-4C78D953C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32450"/>
            <a:ext cx="7765322" cy="4360846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ru-RU"/>
              <a:t>1. Почему для анализа сложности используют машину Тьюринга, а не реальный компьютер?</a:t>
            </a:r>
          </a:p>
          <a:p>
            <a:pPr marL="36900" indent="0">
              <a:buNone/>
            </a:pPr>
            <a:r>
              <a:rPr lang="ru-RU"/>
              <a:t>2. Чем отличаются P и NP в терминах задач принятия решений?</a:t>
            </a:r>
          </a:p>
          <a:p>
            <a:pPr marL="36900" indent="0">
              <a:buNone/>
            </a:pPr>
            <a:r>
              <a:rPr lang="ru-RU"/>
              <a:t>3. Почему n² = o(n³), но 2n ≠ o(3n)? Как это связано с теоремой об иерархии?</a:t>
            </a:r>
          </a:p>
          <a:p>
            <a:pPr marL="36900" indent="0">
              <a:buNone/>
            </a:pPr>
            <a:r>
              <a:rPr lang="ru-RU"/>
              <a:t>4. В чём проблема наивного поиска глубины на графе конфигураций и как Сэвич её решает?</a:t>
            </a:r>
          </a:p>
          <a:p>
            <a:pPr marL="36900" indent="0">
              <a:buNone/>
            </a:pPr>
            <a:r>
              <a:rPr lang="ru-RU"/>
              <a:t>5. Постройте цепочку кванторов для вопроса «Могут ли белые гарантировать мат?». Каким игрокам соответствуют ∃ и ∀?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020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D7D2F7-E214-4052-B980-2EB08B5B9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>
                <a:solidFill>
                  <a:srgbClr val="CC9900"/>
                </a:solidFill>
              </a:rPr>
              <a:t>Источники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CE8A1A-AA75-40B5-B10E-706A8E083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6900" indent="0">
              <a:buNone/>
            </a:pPr>
            <a:r>
              <a:rPr lang="en-US" sz="1600"/>
              <a:t>https://pubs.ams.org/TRAN/1965-117-00/S0002-9947-1965-0170805-7</a:t>
            </a:r>
          </a:p>
          <a:p>
            <a:pPr marL="36900" indent="0">
              <a:buNone/>
            </a:pPr>
            <a:r>
              <a:rPr lang="en-US" sz="1600"/>
              <a:t>https://www.sciencedirect.com/science/article/pii/0304397583900154</a:t>
            </a:r>
          </a:p>
          <a:p>
            <a:pPr marL="36900" indent="0">
              <a:buNone/>
            </a:pPr>
            <a:r>
              <a:rPr lang="en-US" sz="1600"/>
              <a:t>https://www.cs.ox.ac.uk/people/paul.goldberg/CC/2018-19/slides7.pdf</a:t>
            </a:r>
          </a:p>
          <a:p>
            <a:pPr marL="36900" indent="0">
              <a:buNone/>
            </a:pPr>
            <a:r>
              <a:rPr lang="en-US" sz="1600"/>
              <a:t>https://hep.tsinghua.edu.cn/~liwj/AU2024-lec02-07.pdf</a:t>
            </a:r>
          </a:p>
          <a:p>
            <a:pPr marL="36900" indent="0">
              <a:buNone/>
            </a:pPr>
            <a:r>
              <a:rPr lang="en-US" sz="1600"/>
              <a:t>https://plato.stanford.edu/archives/spr2016/entries/computational-complexity/</a:t>
            </a:r>
          </a:p>
          <a:p>
            <a:pPr marL="36900" indent="0">
              <a:buNone/>
            </a:pPr>
            <a:r>
              <a:rPr lang="en-US" sz="1600"/>
              <a:t>https://www.sciencedirect.com/science/article/pii/S002200007080006X?via%3Dihub</a:t>
            </a:r>
          </a:p>
          <a:p>
            <a:pPr marL="36900" indent="0">
              <a:buNone/>
            </a:pPr>
            <a:r>
              <a:rPr lang="en-US" sz="1600"/>
              <a:t>https://people.csail.mit.edu/madhu/ST03/scribe/lect02.pdf</a:t>
            </a:r>
          </a:p>
          <a:p>
            <a:pPr marL="36900" indent="0">
              <a:buNone/>
            </a:pPr>
            <a:r>
              <a:rPr lang="en-US" sz="1600"/>
              <a:t>https://ocw.mit.edu/courses/18-404j-theory-of-computation-fall-2020/resources/lecture-18-pspace-completeness/</a:t>
            </a:r>
          </a:p>
          <a:p>
            <a:pPr marL="36900" indent="0">
              <a:buNone/>
            </a:pPr>
            <a:r>
              <a:rPr lang="en-US" sz="1600"/>
              <a:t>https://courses.cs.cornell.edu/cs6810/2026sp/lec7.pdf</a:t>
            </a:r>
          </a:p>
          <a:p>
            <a:pPr marL="36900" indent="0">
              <a:buNone/>
            </a:pPr>
            <a:r>
              <a:rPr lang="en-US" sz="1600"/>
              <a:t>https://www.cs.utoronto.ca/~toni/Courses/Complexity2015/lectures/lecture5.pdf</a:t>
            </a:r>
          </a:p>
          <a:p>
            <a:pPr marL="36900" indent="0">
              <a:buNone/>
            </a:pPr>
            <a:r>
              <a:rPr lang="en-US" sz="1600"/>
              <a:t>https://www.hse.ru/data/2013/06/02/1285430093/cc-12-space-notes.pdf</a:t>
            </a:r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598573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Сланец</Template>
  <TotalTime>57</TotalTime>
  <Words>1204</Words>
  <Application>Microsoft Office PowerPoint</Application>
  <PresentationFormat>Экран (4:3)</PresentationFormat>
  <Paragraphs>104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Calisto MT</vt:lpstr>
      <vt:lpstr>Wingdings 2</vt:lpstr>
      <vt:lpstr>Сланец</vt:lpstr>
      <vt:lpstr>Теория вычислительной сложности</vt:lpstr>
      <vt:lpstr>Что за теория?</vt:lpstr>
      <vt:lpstr>Вычислительная модель</vt:lpstr>
      <vt:lpstr>Классы сложности</vt:lpstr>
      <vt:lpstr>Теорема об иерархии по времени</vt:lpstr>
      <vt:lpstr>Теорема об иерархии по памяти</vt:lpstr>
      <vt:lpstr>Основная идея доказательства</vt:lpstr>
      <vt:lpstr>Теорема Сэвича</vt:lpstr>
      <vt:lpstr>Док-во. Граф конфигураций</vt:lpstr>
      <vt:lpstr>Рекурсивная проверка пути</vt:lpstr>
      <vt:lpstr>Основное следствие</vt:lpstr>
      <vt:lpstr>TQBF True Quantified Boolean Formula</vt:lpstr>
      <vt:lpstr>Шахматы</vt:lpstr>
      <vt:lpstr>Тактические игры</vt:lpstr>
      <vt:lpstr>Тестировка уровней</vt:lpstr>
      <vt:lpstr>General Game Plaing Правила игры и поиск выигрышной стратегии</vt:lpstr>
      <vt:lpstr>Вопросы для аудитории</vt:lpstr>
      <vt:lpstr>Источники информации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Теория вычислительной сложности</dc:title>
  <dc:creator>user</dc:creator>
  <cp:lastModifiedBy>user</cp:lastModifiedBy>
  <cp:revision>15</cp:revision>
  <dcterms:created xsi:type="dcterms:W3CDTF">2026-10-26T16:09:55Z</dcterms:created>
  <dcterms:modified xsi:type="dcterms:W3CDTF">2026-10-26T17:10:36Z</dcterms:modified>
</cp:coreProperties>
</file>